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F4B9E"/>
            </a:solidFill>
            <a:effectLst/>
          </c:spPr>
          <c:invertIfNegative val="0"/>
          <c:dLbls>
            <c:numFmt formatCode="&quot;₹&quot;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Furniture</c:v>
                </c:pt>
                <c:pt idx="2">
                  <c:v>Grocery</c:v>
                </c:pt>
                <c:pt idx="3">
                  <c:v>Education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19.84</c:v>
                </c:pt>
                <c:pt idx="1">
                  <c:v>21.52</c:v>
                </c:pt>
                <c:pt idx="2">
                  <c:v>22.23</c:v>
                </c:pt>
                <c:pt idx="3">
                  <c:v>25.03</c:v>
                </c:pt>
                <c:pt idx="4">
                  <c:v>50.78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9-419D-9BD5-D0BAC441EF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FAE55"/>
            </a:solidFill>
            <a:effectLst/>
          </c:spPr>
          <c:invertIfNegative val="0"/>
          <c:dLbls>
            <c:numFmt formatCode="&quot;₹&quot;0.0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Hyderabad</c:v>
                </c:pt>
                <c:pt idx="1">
                  <c:v>Mumbai</c:v>
                </c:pt>
                <c:pt idx="2">
                  <c:v>Bengaluru</c:v>
                </c:pt>
                <c:pt idx="3">
                  <c:v>Kolkata</c:v>
                </c:pt>
                <c:pt idx="4">
                  <c:v>Patna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12.28</c:v>
                </c:pt>
                <c:pt idx="1">
                  <c:v>14.21</c:v>
                </c:pt>
                <c:pt idx="2">
                  <c:v>15.64</c:v>
                </c:pt>
                <c:pt idx="3">
                  <c:v>18.71</c:v>
                </c:pt>
                <c:pt idx="4">
                  <c:v>21.01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1-437E-B1F4-4E239BD945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10.91</c:v>
                </c:pt>
                <c:pt idx="1">
                  <c:v>11.51</c:v>
                </c:pt>
                <c:pt idx="2">
                  <c:v>13.06</c:v>
                </c:pt>
                <c:pt idx="3">
                  <c:v>12.22</c:v>
                </c:pt>
                <c:pt idx="4">
                  <c:v>10.98</c:v>
                </c:pt>
                <c:pt idx="5">
                  <c:v>12.91</c:v>
                </c:pt>
                <c:pt idx="6">
                  <c:v>11.75</c:v>
                </c:pt>
                <c:pt idx="7">
                  <c:v>9.4499999999999993</c:v>
                </c:pt>
                <c:pt idx="8">
                  <c:v>9.18</c:v>
                </c:pt>
                <c:pt idx="9">
                  <c:v>12.5</c:v>
                </c:pt>
                <c:pt idx="10">
                  <c:v>12.63</c:v>
                </c:pt>
                <c:pt idx="11">
                  <c:v>12.3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88-41BD-90A8-D92884AFA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7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178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B6178"/>
                    </a:solidFill>
                    <a:latin typeface="Arial"/>
                  </a:rPr>
                  <a:t>Revenue (₹M)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6FD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97-49CA-8647-9E56CFDB15AA}"/>
              </c:ext>
            </c:extLst>
          </c:dPt>
          <c:dPt>
            <c:idx val="1"/>
            <c:bubble3D val="0"/>
            <c:spPr>
              <a:solidFill>
                <a:srgbClr val="D9557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397-49CA-8647-9E56CFDB15AA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511</c:v>
                </c:pt>
                <c:pt idx="1">
                  <c:v>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397-49CA-8647-9E56CFDB15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3E6F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D7-48F7-8480-24FDE03C9628}"/>
              </c:ext>
            </c:extLst>
          </c:dPt>
          <c:dPt>
            <c:idx val="1"/>
            <c:invertIfNegative val="0"/>
            <c:bubble3D val="0"/>
            <c:spPr>
              <a:solidFill>
                <a:srgbClr val="D955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D7-48F7-8480-24FDE03C96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141807</c:v>
                </c:pt>
                <c:pt idx="1">
                  <c:v>136883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D7-48F7-8480-24FDE03C96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06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8778240" y="3291840"/>
            <a:ext cx="3291840" cy="3291840"/>
          </a:xfrm>
          <a:prstGeom prst="triangle">
            <a:avLst/>
          </a:prstGeom>
          <a:solidFill>
            <a:srgbClr val="26306B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9966960" y="-548640"/>
            <a:ext cx="2926080" cy="2926080"/>
          </a:xfrm>
          <a:prstGeom prst="triangle">
            <a:avLst/>
          </a:prstGeom>
          <a:solidFill>
            <a:srgbClr val="222C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" y="4151376"/>
            <a:ext cx="566928" cy="566928"/>
          </a:xfrm>
          <a:prstGeom prst="ellipse">
            <a:avLst/>
          </a:prstGeom>
          <a:solidFill>
            <a:srgbClr val="1B2456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4151376"/>
            <a:ext cx="566928" cy="566928"/>
          </a:xfrm>
          <a:prstGeom prst="ellipse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A623"/>
                </a:solidFill>
              </a:rPr>
              <a:t>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Aradhya Maheshwari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2103120" cy="210312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01168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63140"/>
            <a:ext cx="1051560" cy="105156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011680"/>
            <a:ext cx="1554480" cy="1554480"/>
          </a:xfrm>
          <a:prstGeom prst="ellipse">
            <a:avLst/>
          </a:prstGeom>
          <a:ln w="3175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286000"/>
            <a:ext cx="1005840" cy="1005840"/>
          </a:xfrm>
          <a:prstGeom prst="ellipse">
            <a:avLst/>
          </a:prstGeom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37944" y="266090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280160"/>
            <a:ext cx="7635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the key drivers of sales performance, identify the strongest revenue contributors, and validate whether observed customer differences provide reliable evidence for business decision-making.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0817352" cy="0"/>
          </a:xfrm>
          <a:prstGeom prst="line">
            <a:avLst/>
          </a:prstGeom>
          <a:noFill/>
          <a:ln w="12700">
            <a:solidFill>
              <a:srgbClr val="DD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1580" y="4869180"/>
            <a:ext cx="777240" cy="77724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11580" y="48691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5760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09060" y="4869180"/>
            <a:ext cx="777240" cy="77724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5" name="Text 13"/>
          <p:cNvSpPr/>
          <p:nvPr/>
        </p:nvSpPr>
        <p:spPr>
          <a:xfrm>
            <a:off x="3909060" y="48691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5760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revenue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06540" y="4869180"/>
            <a:ext cx="777240" cy="77724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8" name="Text 16"/>
          <p:cNvSpPr/>
          <p:nvPr/>
        </p:nvSpPr>
        <p:spPr>
          <a:xfrm>
            <a:off x="6606540" y="48691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97880" y="5760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customer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statistically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04020" y="4869180"/>
            <a:ext cx="777240" cy="777240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21" name="Text 19"/>
          <p:cNvSpPr/>
          <p:nvPr/>
        </p:nvSpPr>
        <p:spPr>
          <a:xfrm>
            <a:off x="9304020" y="48691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95360" y="5760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data-backed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SALES PERFORMANCE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16152" y="1271016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5" name="Text 3"/>
          <p:cNvSpPr/>
          <p:nvPr/>
        </p:nvSpPr>
        <p:spPr>
          <a:xfrm>
            <a:off x="1216152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₹139.40M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06624" y="10515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65576" y="1271016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0" name="Text 8"/>
          <p:cNvSpPr/>
          <p:nvPr/>
        </p:nvSpPr>
        <p:spPr>
          <a:xfrm>
            <a:off x="3465576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98064" y="1965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98064" y="24231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6048" y="10515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271016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47488" y="1965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5,435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47488" y="24231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05472" y="10515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64424" y="1271016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20" name="Text 18"/>
          <p:cNvSpPr/>
          <p:nvPr/>
        </p:nvSpPr>
        <p:spPr>
          <a:xfrm>
            <a:off x="7964424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96912" y="1965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96912" y="24231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54896" y="10515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213848" y="1271016"/>
            <a:ext cx="566928" cy="566928"/>
          </a:xfrm>
          <a:prstGeom prst="ellipse">
            <a:avLst/>
          </a:prstGeom>
          <a:solidFill>
            <a:srgbClr val="EAF0FC"/>
          </a:solidFill>
          <a:ln/>
        </p:spPr>
      </p:sp>
      <p:sp>
        <p:nvSpPr>
          <p:cNvPr id="25" name="Text 23"/>
          <p:cNvSpPr/>
          <p:nvPr/>
        </p:nvSpPr>
        <p:spPr>
          <a:xfrm>
            <a:off x="10213848" y="1271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₹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46336" y="19659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₹139,399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546336" y="24231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EAF0FC"/>
          </a:solidFill>
          <a:ln w="12700">
            <a:solidFill>
              <a:srgbClr val="EAF0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342900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represents 1,000 sales transactions generating approximately ₹139.4 million in revenue. Overall performance is substantial, but the next question is where that revenue is coming from.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DRIVERS: CATEGORY &amp; CITY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4630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45352" y="9601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73952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473952" y="14630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285232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0FC"/>
          </a:solidFill>
          <a:ln w="12700">
            <a:solidFill>
              <a:srgbClr val="EAF0F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F4B9E"/>
                </a:solidFill>
              </a:rPr>
              <a:t>★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97280" y="53309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top-performing category, generating approximately ₹51M in revenue.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45352" y="5285232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9944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AE55"/>
                </a:solidFill>
              </a:rPr>
              <a:t>★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885432" y="53309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 leads among cities with approximately ₹21M in revenue.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OVER TIME (MONTHLY)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874520"/>
          <a:ext cx="10698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874520" y="1600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74520" y="1600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3400" y="1600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600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732520" y="160020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1600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(Oct - Nov)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72200" y="39776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BE7E7"/>
          </a:solidFill>
          <a:ln w="12700">
            <a:solidFill>
              <a:srgbClr val="FB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3977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(Aug - Sep)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5852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85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📅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08760" y="56692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shows fluctuations throughout the year with stronger periods in March, June, and October-November, and weaker performance in August and September.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GENDER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41732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627632" y="27432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55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489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955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(48.9%)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670048" y="27432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511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3E6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(51.1%)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4754880"/>
            <a:ext cx="201168" cy="201168"/>
          </a:xfrm>
          <a:prstGeom prst="rect">
            <a:avLst/>
          </a:prstGeom>
          <a:solidFill>
            <a:srgbClr val="3E6FD9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47000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4754880"/>
            <a:ext cx="201168" cy="201168"/>
          </a:xfrm>
          <a:prstGeom prst="rect">
            <a:avLst/>
          </a:prstGeom>
          <a:solidFill>
            <a:srgbClr val="D9557C"/>
          </a:solidFill>
          <a:ln/>
        </p:spPr>
      </p:sp>
      <p:sp>
        <p:nvSpPr>
          <p:cNvPr id="11" name="Text 8"/>
          <p:cNvSpPr/>
          <p:nvPr/>
        </p:nvSpPr>
        <p:spPr>
          <a:xfrm>
            <a:off x="2221992" y="4700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53912" y="96012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82512" y="1097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PER ORDER (₹)</a:t>
            </a:r>
            <a:endParaRPr lang="en-US" sz="12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675120" y="1508760"/>
          <a:ext cx="48463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457200" y="5285232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EAF0FC"/>
          </a:solidFill>
          <a:ln w="12700">
            <a:solidFill>
              <a:srgbClr val="EAF0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0100" y="54635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04672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508760" y="53309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have a slightly higher average sales per order (₹141,807 vs ₹136,883), suggesting a potential difference.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&amp; STATISTICAL TEST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average sales per order differ significantly between male and female customers?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50" b="1" i="1" baseline="-40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There is no significant difference in average sales between male and female customers.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350" b="1" i="1" baseline="-40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There is a significant difference in average sales between male and female customers.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10515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EEF1F9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0" y="15087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</a:rPr>
              <a:t>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2697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Welch's Independent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Two-Sample T-Test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 (α)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FINDINGS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394960" cy="3291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Difference (Male – Female)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₹4,924.13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Confidence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-₹9,231.58 to ₹19,079.85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Level (α)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45352" y="10058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EAF6EA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73952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645652" y="1805940"/>
            <a:ext cx="685800" cy="685800"/>
          </a:xfrm>
          <a:prstGeom prst="ellipse">
            <a:avLst/>
          </a:prstGeom>
          <a:solidFill>
            <a:srgbClr val="3E9A4A"/>
          </a:solidFill>
          <a:ln/>
        </p:spPr>
      </p:sp>
      <p:sp>
        <p:nvSpPr>
          <p:cNvPr id="8" name="Text 5"/>
          <p:cNvSpPr/>
          <p:nvPr/>
        </p:nvSpPr>
        <p:spPr>
          <a:xfrm>
            <a:off x="8645652" y="18059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✓</a:t>
            </a:r>
            <a:endParaRPr lang="en-US" sz="2600" dirty="0"/>
          </a:p>
        </p:txBody>
      </p:sp>
      <p:sp>
        <p:nvSpPr>
          <p:cNvPr id="4" name="Text 6"/>
          <p:cNvSpPr/>
          <p:nvPr/>
        </p:nvSpPr>
        <p:spPr>
          <a:xfrm>
            <a:off x="667512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p-value (0.495) &gt; 0.05, we fail to reject the null hypothesis (H₀).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3520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not statistically significant. The 95% CI includes 0, indicating that a zero difference is plausible.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CALL TO 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1540" y="129387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91540" y="12938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74520" y="11978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Strong Categories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20" y="15819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and strengthening high-performing categories, particularly Electronics.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86584"/>
            <a:ext cx="11274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1540" y="2628900"/>
            <a:ext cx="685800" cy="685800"/>
          </a:xfrm>
          <a:prstGeom prst="ellipse">
            <a:avLst/>
          </a:prstGeom>
          <a:solidFill>
            <a:srgbClr val="6FAE55"/>
          </a:solidFill>
          <a:ln/>
        </p:spPr>
      </p:sp>
      <p:sp>
        <p:nvSpPr>
          <p:cNvPr id="10" name="Text 8"/>
          <p:cNvSpPr/>
          <p:nvPr/>
        </p:nvSpPr>
        <p:spPr>
          <a:xfrm>
            <a:off x="891540" y="2628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2532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High-Performing Locations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74520" y="29169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factors contributing to Patna's strong performance and evaluate whether similar strategies can be applied elsewhere.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21608"/>
            <a:ext cx="11274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1540" y="3963924"/>
            <a:ext cx="685800" cy="685800"/>
          </a:xfrm>
          <a:prstGeom prst="ellipse">
            <a:avLst/>
          </a:prstGeom>
          <a:solidFill>
            <a:srgbClr val="D9557C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" y="396392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3867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Over-Segment by Gender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74520" y="4251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gender difference is not statistically significant, marketing and sales decisions should not rely on gender alone.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56632"/>
            <a:ext cx="11274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3A4A73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1540" y="5298948"/>
            <a:ext cx="685800" cy="685800"/>
          </a:xfrm>
          <a:prstGeom prst="ellipse">
            <a:avLst/>
          </a:prstGeom>
          <a:solidFill>
            <a:srgbClr val="7B5EC7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" y="52989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74520" y="5202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Stronger Drivers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74520" y="55869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analysis should investigate product, category, city, quantity, and unit price to identify stronger drivers of sales performance.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Widescreen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Aradhya Maheshwari</cp:lastModifiedBy>
  <cp:revision>1</cp:revision>
  <dcterms:created xsi:type="dcterms:W3CDTF">2026-08-08T12:19:03Z</dcterms:created>
  <dcterms:modified xsi:type="dcterms:W3CDTF">2026-08-08T12:20:43Z</dcterms:modified>
</cp:coreProperties>
</file>